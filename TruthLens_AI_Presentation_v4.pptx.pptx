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8" r:id="rId12"/>
    <p:sldId id="263" r:id="rId13"/>
    <p:sldId id="264" r:id="rId14"/>
    <p:sldId id="265" r:id="rId15"/>
    <p:sldId id="266" r:id="rId16"/>
    <p:sldId id="269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 w="12700">
            <a:solidFill>
              <a:srgbClr val="0A1A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4400" y="3200400"/>
            <a:ext cx="3619500" cy="3657600"/>
          </a:xfrm>
          <a:prstGeom prst="ellipse">
            <a:avLst/>
          </a:prstGeom>
          <a:solidFill>
            <a:srgbClr val="112A66"/>
          </a:solidFill>
          <a:ln w="12700">
            <a:solidFill>
              <a:srgbClr val="112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Before You Trust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Misinformation &amp; Deepfake Detection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23360" y="4663440"/>
            <a:ext cx="4206240" cy="1280160"/>
          </a:xfrm>
          <a:prstGeom prst="roundRect">
            <a:avLst>
              <a:gd name="adj" fmla="val 10714"/>
            </a:avLst>
          </a:prstGeom>
          <a:solidFill>
            <a:srgbClr val="1B2A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4663440"/>
            <a:ext cx="42062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TruthLens AI
</a:t>
            </a: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Suvasini  •  CSE, CMR University, Bengaluru
</a:t>
            </a:r>
            <a:r>
              <a:rPr lang="en-US" sz="1200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Misinformation spreads faster than truth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01168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Viral Fake News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514600"/>
            <a:ext cx="42976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Fabricated stories spread across platforms in minutes, faster than fact-checkers can respond.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01168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Deepfake Media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2514600"/>
            <a:ext cx="42976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AI-generated images and videos blur the line between real and synthetic content.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29768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Public Trust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800600"/>
            <a:ext cx="42976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Audiences struggle to distinguish credible journalism from manipulated content.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29768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Quick Verification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4800600"/>
            <a:ext cx="42976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users have no easy, transparent way to check a story before sharing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— one platform, instant verification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11247120" cy="4389120"/>
          </a:xfrm>
          <a:prstGeom prst="roundRect">
            <a:avLst>
              <a:gd name="adj" fmla="val 2500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unified AI platform that verifies text, source URLs and images, returns an explainable trust score, and generates a downloadable PDF verification report.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0632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Verification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474720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Analyzes text credibility, source URL &amp; image authenticity in one 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0632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3474720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WHY content is suspicious — not just a number.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48056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177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Trust 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0–100 score with Low / Medium / High risk classification.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4480560"/>
            <a:ext cx="4937760" cy="1371600"/>
          </a:xfrm>
          <a:prstGeom prst="roundRect">
            <a:avLst>
              <a:gd name="adj" fmla="val 6667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6177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Verification Report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5029200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downloadable, timestamped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ASEEV Verification Framework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unique 5-step methodology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568" y="182880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0F2557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0928" y="210312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928" y="210312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18008" y="324612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Content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3728" y="3794760"/>
            <a:ext cx="19202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text, source URLs and images.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12568" y="182880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0F2557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6928" y="210312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6928" y="210312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2804008" y="324612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Credibility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49728" y="3794760"/>
            <a:ext cx="19202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a trust score from 0–100.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98568" y="182880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0F2557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92928" y="210312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2928" y="210312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090008" y="324612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Risk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35728" y="3794760"/>
            <a:ext cx="19202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as Low, Medium or High Risk.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84568" y="182880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0F2557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78928" y="210312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8928" y="210312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376008" y="324612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Findings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21728" y="3794760"/>
            <a:ext cx="19202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 reasoning behind every result.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70568" y="182880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0F2557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64928" y="210312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4928" y="210312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9662008" y="324612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Information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07728" y="3794760"/>
            <a:ext cx="19202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 source reliability and generate a report.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Professional PDF Verification Report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verification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54680" y="2331720"/>
            <a:ext cx="164592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8288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82880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6035040" y="2331720"/>
            <a:ext cx="164592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Verification API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915400" y="2331720"/>
            <a:ext cx="164592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8288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4B8A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82880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ASEEV Analysis Engine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4B8A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Scoring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rot="5400000">
            <a:off x="3154680" y="4434840"/>
            <a:ext cx="164592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9319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4B8A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93192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Assessment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rot="5400000">
            <a:off x="6035040" y="4434840"/>
            <a:ext cx="164592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9319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3192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Report Generator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 rot="5400000">
            <a:off x="8915400" y="4434840"/>
            <a:ext cx="164592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393192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3931920"/>
            <a:ext cx="24688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Report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1064240" y="3108960"/>
            <a:ext cx="0" cy="91440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</a:t>
            </a:r>
            <a:r>
              <a:rPr lang="en-US" altLang="en-US" sz="12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Enhancements: MongoDB-based source reputation database and Transformer-powered NLP analysis.</a:t>
            </a:r>
            <a:endParaRPr lang="en-US" altLang="en-US" sz="1200" i="1" dirty="0">
              <a:solidFill>
                <a:srgbClr val="94A3B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Features &amp; Tech Stack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works in the demo today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Features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521208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&amp; URL credibility analysis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Score (0–100) with risk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 verdicts &amp; reasons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ASEEV framework workflow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Verification Report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One-click report download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Timestamped verification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Professional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Heatmap (Authenticity &amp; Credibility)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5303520" cy="4389120"/>
          </a:xfrm>
          <a:prstGeom prst="roundRect">
            <a:avLst>
              <a:gd name="adj" fmla="val 2500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3774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0632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30632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(Python) verification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7490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37490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ASEEV rule-based scoring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4348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4348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Client-side PDF generation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5120640"/>
            <a:ext cx="1554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51206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· Transformers · Sentiment AI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Prototype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screenshots from the working demo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280" y="1568450"/>
            <a:ext cx="5135245" cy="4700905"/>
          </a:xfrm>
          <a:prstGeom prst="roundRect">
            <a:avLst>
              <a:gd name="adj" fmla="val 3279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00" y="1598295"/>
            <a:ext cx="5031740" cy="4141470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623570" y="5741670"/>
            <a:ext cx="508317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Homepage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52895" y="1572260"/>
            <a:ext cx="4959985" cy="4670425"/>
          </a:xfrm>
          <a:prstGeom prst="roundRect">
            <a:avLst>
              <a:gd name="adj" fmla="val 3279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97345" y="1598295"/>
            <a:ext cx="4872990" cy="4131310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  <p:sp>
        <p:nvSpPr>
          <p:cNvPr id="14" name="Text 10"/>
          <p:cNvSpPr/>
          <p:nvPr/>
        </p:nvSpPr>
        <p:spPr>
          <a:xfrm>
            <a:off x="6652260" y="5739765"/>
            <a:ext cx="495998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BBC </a:t>
            </a:r>
            <a:r>
              <a:rPr lang="en-GB" alt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result</a:t>
            </a:r>
            <a:endParaRPr lang="en-GB" alt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Prototype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screenshots from the working demo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8805" y="1636395"/>
            <a:ext cx="5055235" cy="4542155"/>
          </a:xfrm>
          <a:prstGeom prst="roundRect">
            <a:avLst>
              <a:gd name="adj" fmla="val 3279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3890" y="1669415"/>
            <a:ext cx="4961890" cy="40652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6000" y="5718175"/>
            <a:ext cx="3776345" cy="460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URL</a:t>
            </a:r>
            <a:r>
              <a:rPr lang="en-GB" alt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test result</a:t>
            </a:r>
            <a:endParaRPr lang="en-GB" alt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530975" y="1636395"/>
            <a:ext cx="5158740" cy="4568825"/>
          </a:xfrm>
          <a:prstGeom prst="roundRect">
            <a:avLst>
              <a:gd name="adj" fmla="val 3279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30975" y="5718175"/>
            <a:ext cx="511111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Downloadable PDF Verification Report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95110" y="1669415"/>
            <a:ext cx="5046980" cy="404939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Advantage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TruthLens different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2140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2140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1828800"/>
            <a:ext cx="43891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Downloadable Verification Reports (PDF)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12140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2140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78040" y="1828800"/>
            <a:ext cx="43891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ASEEV Verification Framework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44728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4728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3154680"/>
            <a:ext cx="43891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Credibility Analysis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315468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44728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44728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3154680"/>
            <a:ext cx="43891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 Reasoning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77316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77316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4480560"/>
            <a:ext cx="43891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Multi-Modal: text + URL + image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4480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0F255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773168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77316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4480560"/>
            <a:ext cx="43891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trust score &amp; risk level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journey through ASEEV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38448" y="13030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8448" y="130302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5848" y="1805940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38448" y="19431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8448" y="194310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ASEEV Framework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48" y="2446020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38448" y="258318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8448" y="258318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Content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3086100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38448" y="322326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8448" y="322326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Credibility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95848" y="3726180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38448" y="38633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38448" y="386334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Risk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95848" y="4366260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38448" y="45034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38448" y="450342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Findings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95848" y="5006340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38448" y="51435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38448" y="514350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Information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95848" y="5646420"/>
            <a:ext cx="0" cy="1371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38448" y="578358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F25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38448" y="578358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PDF Report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benefits from TruthLens 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&amp; Researchers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5029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sources before citing in academic work.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Journalists &amp; Editors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5029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credibility check on tips &amp; viral claims.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NGOs &amp; Public Orgs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5029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 misinformation campaigns at scale.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14800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Everyday Readers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5029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Decide what to trust before sharing on social media.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prototype to production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Now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329184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ASEEV rule-based engine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score &amp; risk level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verification report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828800"/>
            <a:ext cx="365760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8288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Next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2651760"/>
            <a:ext cx="329184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Transformer-based NLP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reputation DB (MongoDB)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extension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828800"/>
            <a:ext cx="365760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8288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— Vision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651760"/>
            <a:ext cx="329184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Deepfake face detection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fact verification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 support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TruthLens AI  •  Verify Before You Trust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68335" y="6556248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Expected Impact &amp; Benefits</a:t>
            </a:r>
            <a:endParaRPr lang="en-US" altLang="en-US" sz="3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altLang="en-US" sz="3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3475" y="1282700"/>
            <a:ext cx="7519670" cy="4719320"/>
          </a:xfrm>
          <a:prstGeom prst="roundRect">
            <a:avLst>
              <a:gd name="adj" fmla="val 3000"/>
            </a:avLst>
          </a:prstGeom>
          <a:solidFill>
            <a:srgbClr val="1B2A55"/>
          </a:solidFill>
          <a:ln w="12700">
            <a:solidFill>
              <a:srgbClr val="2740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04110" y="1282700"/>
            <a:ext cx="7519035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2840" y="1282700"/>
            <a:ext cx="213423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GB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Benefits</a:t>
            </a:r>
            <a:endParaRPr lang="en-GB" alt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35530" y="2651760"/>
            <a:ext cx="9264015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the spread of misinformation</a:t>
            </a:r>
            <a:endParaRPr lang="en-US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Encourages responsible content sharing</a:t>
            </a:r>
            <a:endParaRPr lang="en-US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digital and media literacy</a:t>
            </a:r>
            <a:endParaRPr lang="en-US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rapid credibility assessment</a:t>
            </a:r>
            <a:endParaRPr lang="en-US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transparent AI-driven explanations</a:t>
            </a:r>
            <a:endParaRPr lang="en-US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downloadable verification reports for auditing</a:t>
            </a:r>
            <a:endParaRPr lang="en-US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SzPct val="100000"/>
              <a:buChar char="•"/>
            </a:pPr>
            <a:endParaRPr lang="en-US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F2557"/>
          </a:solidFill>
          <a:ln w="12700">
            <a:solidFill>
              <a:srgbClr val="0F2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755" y="2461895"/>
            <a:ext cx="4373245" cy="4396105"/>
          </a:xfrm>
          <a:prstGeom prst="ellipse">
            <a:avLst/>
          </a:prstGeom>
          <a:solidFill>
            <a:srgbClr val="112A66"/>
          </a:solidFill>
          <a:ln w="12700">
            <a:solidFill>
              <a:srgbClr val="112A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Before You Trust</a:t>
            </a:r>
            <a:endParaRPr lang="en-US" sz="2400" i="1" dirty="0">
              <a:solidFill>
                <a:srgbClr val="22D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altLang="en-US" sz="2400" dirty="0">
                <a:solidFill>
                  <a:srgbClr val="22D3EE"/>
                </a:solidFill>
              </a:rPr>
              <a:t>AI-Powered Misinformation &amp; Deepfake Detection Platform</a:t>
            </a:r>
            <a:endParaRPr lang="en-US" altLang="en-US" sz="2400" dirty="0">
              <a:solidFill>
                <a:srgbClr val="22D3EE"/>
              </a:solidFill>
            </a:endParaRPr>
          </a:p>
          <a:p>
            <a:pPr marL="0" indent="0" algn="ctr">
              <a:buNone/>
            </a:pPr>
            <a:endParaRPr lang="en-US" altLang="en-US" sz="2400" dirty="0">
              <a:solidFill>
                <a:srgbClr val="22D3EE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4907280"/>
            <a:ext cx="4206240" cy="1280160"/>
          </a:xfrm>
          <a:prstGeom prst="roundRect">
            <a:avLst>
              <a:gd name="adj" fmla="val 10714"/>
            </a:avLst>
          </a:prstGeom>
          <a:solidFill>
            <a:srgbClr val="1B2A5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4907280"/>
            <a:ext cx="42062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TruthLens AI
</a:t>
            </a: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Suvasini  •  CMR University, Bengaluru
</a:t>
            </a:r>
            <a:r>
              <a:rPr lang="en-US" sz="1200" i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Bharat Academix CodeQuest 2026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3125" y="4149725"/>
            <a:ext cx="7973060" cy="62992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4832</Words>
  <Application>WPS Presentation</Application>
  <PresentationFormat>On-screen Show (16:9)</PresentationFormat>
  <Paragraphs>330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TruthLens AI</dc:title>
  <dc:creator>PptxGenJS</dc:creator>
  <dc:subject>PptxGenJS Presentation</dc:subject>
  <cp:lastModifiedBy>Suvasini Huleppa</cp:lastModifiedBy>
  <cp:revision>6</cp:revision>
  <dcterms:created xsi:type="dcterms:W3CDTF">2026-06-22T07:59:00Z</dcterms:created>
  <dcterms:modified xsi:type="dcterms:W3CDTF">2026-06-22T16:23:52Z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5144171CFED64E509B3BB8FD94B84126_12</vt:lpwstr>
  </property>
</Properties>
</file>